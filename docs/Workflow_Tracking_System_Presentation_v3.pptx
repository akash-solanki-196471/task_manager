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26D52B-8CDD-431D-ACFB-8F4F97E87CE6}">
          <p14:sldIdLst>
            <p14:sldId id="27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39:37.066"/>
    </inkml:context>
    <inkml:brush xml:id="br0">
      <inkml:brushProperty name="width" value="0.05" units="cm"/>
      <inkml:brushProperty name="height" value="0.05" units="cm"/>
      <inkml:brushProperty name="color" value="#BB5B18"/>
      <inkml:brushProperty name="inkEffects" value="bronze"/>
      <inkml:brushProperty name="anchorX" value="-9080.9668"/>
      <inkml:brushProperty name="anchorY" value="-9080.96777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39:51.705"/>
    </inkml:context>
    <inkml:brush xml:id="br0">
      <inkml:brushProperty name="width" value="0.05" units="cm"/>
      <inkml:brushProperty name="height" value="0.05" units="cm"/>
      <inkml:brushProperty name="color" value="#BB5B18"/>
      <inkml:brushProperty name="inkEffects" value="bronze"/>
      <inkml:brushProperty name="anchorX" value="-23594.41992"/>
      <inkml:brushProperty name="anchorY" value="-23594.42188"/>
      <inkml:brushProperty name="scaleFactor" value="0.5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40:36.426"/>
    </inkml:context>
    <inkml:brush xml:id="br0">
      <inkml:brushProperty name="width" value="0.05" units="cm"/>
      <inkml:brushProperty name="height" value="0.05" units="cm"/>
      <inkml:brushProperty name="color" value="#BB5B18"/>
      <inkml:brushProperty name="inkEffects" value="bronze"/>
      <inkml:brushProperty name="anchorX" value="-64902.19141"/>
      <inkml:brushProperty name="anchorY" value="-64883.59766"/>
      <inkml:brushProperty name="scaleFactor" value="0.5"/>
    </inkml:brush>
  </inkml:definitions>
  <inkml:trace contextRef="#ctx0" brushRef="#br0">1 1216 24575,'0'0'0,"7"0"0,13 0 0,11-5 0,17-8 0,5 0 0,3-5 0,4-1 0,10-6 0,8-5 0,9 3 0,5-4 0,6 2 0,-9 2 0,-9 5 0,-16 6 0,-14 6 0,-3-4 0,-5 3 0,-4 1 0,8-1 0,1 3 0,-4 1 0,-4 2 0,-5 2 0,-5 2 0,1 1 0,-2 0 0,-2 0 0,-1 1 0,-1-1 0,-1 0 0,-1 0 0,0 1 0,0-1 0,0 0 0,0 0 0,0 0 0,4 0 0,0 0 0,1 0 0,-1 0 0,-1 0 0,3 0 0,-1 0 0,5 0 0,11 0 0,18 0 0,16 4 0,22 5 0,7 0 0,-3 4 0,11-2 0,-12 2 0,-4-2 0,-18 2 0,-17-3 0,-7-2 0,-16 2 0,-8-2 0,-3-2 0,-3-2 0,7-2 0,3 0 0,0-2 0,7 9 0,1 0 0,6 4 0,-4-1 0,0-3 0,4 3 0,7 6 0,9-2 0,0-3 0,-3 2 0,-5-3 0,-4 0 0,-4 3 0,-8-3 0,-10 2 0,-6-3 0,0 2 0,-2-2 0,8-3 0,9 2 0,4 2 0,3-2 0,5-1 0,4 1 0,-1-1 0,3 2 0,-3 7 0,-2-2 0,-7-2 0,-4-3 0,-6-4 0,-4 2 0,-6-3 0,-2-1 0,11 3 0,-5 3 0,8 3 0,11 0 0,12-4 0,5 3 0,17 5 0,-3-2 0,-5 3 0,-4-4 0,-3-4 0,-7 1 0,-6-3 0,-8-3 0,-5-2 0,-7-1 0,-4-2 0,-5-1 0,-3 0 0,11 4 0,-4 4 0,8 1 0,2-1 0,-2-2 0,6-2 0,5-1 0,0-2 0,1 0 0,-5-1 0,-7-1 0,-6 1 0,-5 0 0,1-1 0,-1 1 0,-2 0 0,-2 0 0,4 0 0,0 0 0,3-4 0,4-1 0,3-8 0,2 0 0,3-3 0,1 2 0,-4-1 0,1-1 0,-1-2 0,1-2 0,1-1 0,1 0 0,-9-1 0,1-1 0,-4 1 0,-4-5 0,3 4 0,-2-3 0,4 0 0,3-4 0,-2 1 0,-2 0 0,-2-2 0,-2 5 0,-3-2 0,-1 5 0,-5 2 0,4-4 0,-1 1 0,2-1 0,0 1 0,-1 0 0,1 1 0,-5 0 0,0 5 0,0 0 0,-4 1 0,-3-1 0,-4-2 0,-3 0 0,-3-10 0,0-1 0,-2-4 0,5 5 0,0 3 0,0 2 0,-1 2 0,-1 0 0,0 2 0,-2 0 0,-3-5 0,-6 4 0,-1 1 0,-2-5 0,-4-4 0,-2 0 0,-2 1 0,-1-4 0,-1 2 0,-1 2 0,0 2 0,1 2 0,-1 1 0,1 2 0,0-1 0,0 2 0,0-1 0,-1 4 0,1 6 0,0 3 0,0 4 0,0-1 0,0 1 0,0 1 0,0 1 0,-5 1 0,1 1 0,-5 1 0,0 0 0,2 0 0,2 1 0,1-1 0,2 4 0,1 1 0,0-1 0,5 5 0,1-2 0,0 3 0,-1 4 0,-1 7 0,3 3 0,4 5 0,0 6 0,2-1 0,3-2 0,3-2 0,-3-2 0,2-3 0,0-1 0,2-2 0,0 0 0,2 0 0,1-1 0,4-4 0,1 0 0,4-4 0,4 1 0,3-4 0,3-2 0,6 6 0,2 2 0,0-1 0,0-3 0,-2-3 0,-1-3 0,4-7 0,-5-3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0:40:42.843"/>
    </inkml:context>
    <inkml:brush xml:id="br0">
      <inkml:brushProperty name="width" value="0.05" units="cm"/>
      <inkml:brushProperty name="height" value="0.05" units="cm"/>
      <inkml:brushProperty name="color" value="#BB5B18"/>
      <inkml:brushProperty name="inkEffects" value="bronze"/>
      <inkml:brushProperty name="anchorX" value="-73003.3125"/>
      <inkml:brushProperty name="anchorY" value="-65507.01563"/>
      <inkml:brushProperty name="scaleFactor" value="0.5"/>
    </inkml:brush>
  </inkml:definitions>
  <inkml:trace contextRef="#ctx0" brushRef="#br0">6297 1218 24575,'0'0'0,"-3"0"0,-7 0 0,-3 0 0,-9 0 0,-2 0 0,-7 0 0,-4 0 0,0 0 0,-2 0 0,-2-5 0,-2 1 0,3-1 0,-1 2 0,-1-4 0,4 0 0,-1-2 0,3-5 0,3 2 0,3 3 0,-2-7 0,-6 2 0,0 2 0,1 4 0,-1-2 0,3 2 0,-2-2 0,3 1 0,-3-2 0,-1 2 0,-2-3 0,-3-3 0,-2 3 0,0 2 0,-1 3 0,3 3 0,1-3 0,0-3 0,4 1 0,3 1 0,4 2 0,-6-2 0,-7 1 0,2 2 0,-3-4 0,4 2 0,-4 1 0,3 2 0,4 1 0,0-3 0,-1 1 0,2 1 0,4-4 0,3 1 0,-3 1 0,-2 1 0,2 2 0,-4 2 0,-2 0 0,-7-4 0,3 1 0,-2 0 0,0 1 0,-1 0 0,1 2 0,3 0 0,1 1 0,4 0 0,3 0 0,4 0 0,3 0 0,1 0 0,-2 0 0,0 0 0,0 0 0,-4 0 0,-3 0 0,-4 0 0,2 0 0,-3 0 0,3 0 0,3 0 0,4 0 0,-3 0 0,3 0 0,1 0 0,-3 0 0,-3 0 0,0 0 0,-2 0 0,2 0 0,2 0 0,-1 0 0,1 0 0,-2 0 0,-2 0 0,-4 0 0,3 0 0,-2 0 0,-1 0 0,3 0 0,3 0 0,4 0 0,2 0 0,3 0 0,1 5 0,1-1 0,1 1 0,-1-2 0,1 0 0,-1-1 0,-4 3 0,0 4 0,-10 1 0,1 2 0,-12 3 0,-6 3 0,-7 2 0,5-4 0,2-3 0,7 1 0,8 0 0,6-2 0,5-3 0,4 2 0,1-3 0,1 3 0,0 2 0,0-1 0,-4 1 0,-1-1 0,-1 1 0,2 2 0,-4-2 0,1 1 0,0-2 0,2-3 0,1 1 0,1-2 0,1 3 0,1-3 0,-5-1 0,1-2 0,-9 7 0,0-1 0,-3 3 0,3-2 0,-3-3 0,4-2 0,-2-3 0,4-2 0,-3 4 0,3-2 0,-2 0 0,-2 0 0,-3 2 0,3 0 0,-2-1 0,3-1 0,4-1 0,2 3 0,4-1 0,1 0 0,1-1 0,1-2 0,1 0 0,-1-2 0,1 1 0,-1-2 0,0 1 0,1 0 0,-6 0 0,1 0 0,-1 0 0,1-1 0,1 1 0,1 0 0,1 0 0,1 0 0,0 0 0,0 0 0,0 0 0,0-4 0,0-1 0,0-4 0,5-3 0,-1 0 0,1-3 0,-2-1 0,4-2 0,-1 2 0,-1 0 0,-1-1 0,-1-2 0,-1-1 0,-1 4 0,-1-1 0,-1 4 0,6-1 0,-1-1 0,0-2 0,-5-2 0,-1-5 0,3-2 0,5 0 0,5 0 0,-4-4 0,3 2 0,2 0 0,3 1 0,2 2 0,3 1 0,1 2 0,1-1 0,0 1 0,1 1 0,-1-1 0,1 0 0,-1 0 0,0 0 0,0 0 0,0 0 0,0 0 0,0 0 0,0 0 0,0 0 0,0-1 0,0 1 0,0 0 0,4 0 0,1 0 0,4-4 0,3-1 0,4 0 0,-1 2 0,1 0 0,2 5 0,1 2 0,-4 0 0,2 0 0,0 3 0,2 4 0,5-5 0,1 2 0,1-1 0,-1 2 0,4-1 0,0 3 0,3-2 0,-1-1 0,3 1 0,-2 3 0,3 4 0,-3 1 0,3 3 0,-3 2 0,2 0 0,-2 0 0,3 1 0,-3-1 0,-7 5 0,-2 4 0,-2 0 0,-1 0 0,-5 2 0,1-2 0,0 2 0,-3 8 0,2-3 0,-4 3 0,2-4 0,-3 6 0,-2 0 0,-3 2 0,-2 0 0,-2 0 0,0 0 0,-2 4 0,1 0 0,-5 5 0,-4 2 0,-5-4 0,1-3 0,-3-2 0,4-2 0,-3-5 0,4-1 0,-2-5 0,-2 2 0,-1 0 0,-7-2 0,-2-3 0,-6-3 0,5-2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5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6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2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5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2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2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4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9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9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6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11.png"/><Relationship Id="rId4" Type="http://schemas.openxmlformats.org/officeDocument/2006/relationships/customXml" Target="../ink/ink2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1CFF57-AD5C-82E9-07B4-30A10C52D202}"/>
              </a:ext>
            </a:extLst>
          </p:cNvPr>
          <p:cNvSpPr txBox="1"/>
          <p:nvPr/>
        </p:nvSpPr>
        <p:spPr>
          <a:xfrm>
            <a:off x="838200" y="2240724"/>
            <a:ext cx="10515600" cy="1446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5400" dirty="0"/>
              <a:t>SHAH INVESTMENT </a:t>
            </a:r>
          </a:p>
          <a:p>
            <a:pPr algn="ctr"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4000" dirty="0">
                <a:solidFill>
                  <a:schemeClr val="accent1">
                    <a:lumMod val="50000"/>
                  </a:schemeClr>
                </a:solidFill>
              </a:rPr>
              <a:t>TASK MANAGEMENT APPLICATION</a:t>
            </a:r>
            <a:endParaRPr sz="4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8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01: 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dirty="0"/>
              <a:t>Upgraded Enterprise Workflow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Ultra-Contrast White Mode:</a:t>
            </a:r>
            <a:r>
              <a:rPr>
                <a:solidFill>
                  <a:srgbClr val="475569"/>
                </a:solidFill>
              </a:rPr>
              <a:t> Transitioned the entire app to a beautiful slate-white glassmorphic background for maximum outdoor/indoor readability.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Two Isolated Panels:</a:t>
            </a:r>
            <a:r>
              <a:rPr>
                <a:solidFill>
                  <a:srgbClr val="475569"/>
                </a:solidFill>
              </a:rPr>
              <a:t> Provides an Admin dashboard for managers to orchestrate assignments, and a streamlined Employee dashboard focusing strictly on assigned tasks.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Subsecond Interaction:</a:t>
            </a:r>
            <a:r>
              <a:rPr>
                <a:solidFill>
                  <a:srgbClr val="475569"/>
                </a:solidFill>
              </a:rPr>
              <a:t> Built using Angular and Node.js for subsecond, instant view updates on tablets, laptops, and smartphones.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Military-Grade Security:</a:t>
            </a:r>
            <a:r>
              <a:rPr>
                <a:solidFill>
                  <a:srgbClr val="475569"/>
                </a:solidFill>
              </a:rPr>
              <a:t> Passwords hashed with bcrypt and sessions validated via secure JSON Web Tokens (JWT) inside the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01: CORE ARCHITECTURE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Upgraded Enterprise Workflow Dashboard</a:t>
            </a:r>
          </a:p>
        </p:txBody>
      </p:sp>
      <p:pic>
        <p:nvPicPr>
          <p:cNvPr id="4" name="Picture 3" descr="system_architecture_diagram_17793470437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60" y="1463040"/>
            <a:ext cx="6475586" cy="4293704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🔍 Platform Architecture: Modular node connection connecting managers, employees, and the cloud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02: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Easy Step-by-Step Task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Pending State:</a:t>
            </a:r>
            <a:r>
              <a:rPr>
                <a:solidFill>
                  <a:srgbClr val="475569"/>
                </a:solidFill>
              </a:rPr>
              <a:t> Initial status when the Manager creates and assigns a task. Appears inside the employee's pending tab.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 Progress State:</a:t>
            </a:r>
            <a:r>
              <a:rPr>
                <a:solidFill>
                  <a:srgbClr val="475569"/>
                </a:solidFill>
              </a:rPr>
              <a:t> Active worker status. Indicated on the card by an Indigo color boundary.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Waiting for Approval State:</a:t>
            </a:r>
            <a:r>
              <a:rPr>
                <a:solidFill>
                  <a:srgbClr val="475569"/>
                </a:solidFill>
              </a:rPr>
              <a:t> Employee marks a task finished. Flags the item inside the manager's approval queue.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Done (Approved) State:</a:t>
            </a:r>
            <a:r>
              <a:rPr>
                <a:solidFill>
                  <a:srgbClr val="475569"/>
                </a:solidFill>
              </a:rPr>
              <a:t> Closed status. The manager reviews the completed work, clicks 'Approve', and closes the item.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Reverted (Clarification) State:</a:t>
            </a:r>
            <a:r>
              <a:rPr>
                <a:solidFill>
                  <a:srgbClr val="475569"/>
                </a:solidFill>
              </a:rPr>
              <a:t> If instructions are missing, the worker clicks 'Need Clarification', instantly re-routing it back to the Admin.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02: WORKFLOWS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Easy Step-by-Step Task States</a:t>
            </a:r>
          </a:p>
        </p:txBody>
      </p:sp>
      <p:pic>
        <p:nvPicPr>
          <p:cNvPr id="4" name="Picture 3" descr="task_workflow_diagram_177934702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582" y="1737360"/>
            <a:ext cx="3910534" cy="3741204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🔄 Workflow Stages: Dynamic states showing progression from task initiation to active progress, review, and final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Secure Entrance Gate &amp; Form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Sign In Button:</a:t>
            </a:r>
            <a:r>
              <a:rPr>
                <a:solidFill>
                  <a:srgbClr val="475569"/>
                </a:solidFill>
              </a:rPr>
              <a:t> Validates form syntax, calls the Node API, saves JWT session token, and automatically routes the user to their dashboard.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Register Now / Sign In Link:</a:t>
            </a:r>
            <a:r>
              <a:rPr>
                <a:solidFill>
                  <a:srgbClr val="475569"/>
                </a:solidFill>
              </a:rPr>
              <a:t> Switches the entry form instantly between Login and Registration modes.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Register Button:</a:t>
            </a:r>
            <a:r>
              <a:rPr>
                <a:solidFill>
                  <a:srgbClr val="475569"/>
                </a:solidFill>
              </a:rPr>
              <a:t> Instantiates a new user registry in the database after validating fields in real time.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Interactive Error Outlines:</a:t>
            </a:r>
            <a:r>
              <a:rPr>
                <a:solidFill>
                  <a:srgbClr val="475569"/>
                </a:solidFill>
              </a:rPr>
              <a:t> Missing or invalid input bars instantly highlight with sharp red borders and warning icons.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Username Warning (Signup):</a:t>
            </a:r>
            <a:r>
              <a:rPr>
                <a:solidFill>
                  <a:srgbClr val="475569"/>
                </a:solidFill>
              </a:rPr>
              <a:t> Alerts if empty or under 3 characters.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Email &amp; Password Alerts:</a:t>
            </a:r>
            <a:r>
              <a:rPr>
                <a:solidFill>
                  <a:srgbClr val="475569"/>
                </a:solidFill>
              </a:rPr>
              <a:t> Prevents submission of invalid email addresses or passwords under 6 characters.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Confirm Password Matcher:</a:t>
            </a:r>
            <a:r>
              <a:rPr>
                <a:solidFill>
                  <a:srgbClr val="475569"/>
                </a:solidFill>
              </a:rPr>
              <a:t> Prevents registration if confirmation password doesn't match the original 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Secure Entrance Gate &amp; Form Validation</a:t>
            </a:r>
          </a:p>
        </p:txBody>
      </p:sp>
      <p:pic>
        <p:nvPicPr>
          <p:cNvPr id="4" name="Picture 3" descr="login_page_ui_17793468917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332" y="1280160"/>
            <a:ext cx="8732058" cy="4911783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🔒 Portal Gate: Sleek white-glass login panel with real-time validation error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Manager Control Panel (Admin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Total / Pending / Scheduled / Done Tabs:</a:t>
            </a:r>
            <a:r>
              <a:rPr>
                <a:solidFill>
                  <a:srgbClr val="475569"/>
                </a:solidFill>
              </a:rPr>
              <a:t> Click any status button to instantly filter the primary registry.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Search Bar:</a:t>
            </a:r>
            <a:r>
              <a:rPr>
                <a:solidFill>
                  <a:srgbClr val="475569"/>
                </a:solidFill>
              </a:rPr>
              <a:t> Fast responsive filter. Type titles or descriptions to screen tasks instantly.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New Task Button:</a:t>
            </a:r>
            <a:r>
              <a:rPr>
                <a:solidFill>
                  <a:srgbClr val="475569"/>
                </a:solidFill>
              </a:rPr>
              <a:t> Opens a popup form to create and delegate a new task item.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Add Member Button (Registry Panel):</a:t>
            </a:r>
            <a:r>
              <a:rPr>
                <a:solidFill>
                  <a:srgbClr val="475569"/>
                </a:solidFill>
              </a:rPr>
              <a:t> Opens a registry modal to add employees or manage active worker profiles.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Logout Button:</a:t>
            </a:r>
            <a:r>
              <a:rPr>
                <a:solidFill>
                  <a:srgbClr val="475569"/>
                </a:solidFill>
              </a:rPr>
              <a:t> Safely clears the session token from browser cache and returns securely to the login portal.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Audit Trail Timeline:</a:t>
            </a:r>
            <a:r>
              <a:rPr>
                <a:solidFill>
                  <a:srgbClr val="475569"/>
                </a:solidFill>
              </a:rPr>
              <a:t> Displays a real-time log of state transitions (who did what and when).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Manager Control Panel (Admin View)</a:t>
            </a:r>
          </a:p>
        </p:txBody>
      </p:sp>
      <p:pic>
        <p:nvPicPr>
          <p:cNvPr id="4" name="Picture 3" descr="admin_dashboard_ui_1779346909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19691"/>
            <a:ext cx="8723180" cy="4906789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📊 Admin Dashboard: Manager overview dashboard displaying active workflow statistics, search utilities, and team directory.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Employee Task Board (Worker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Today's Tasks / In Progress / Waiting / Done Tabs:</a:t>
            </a:r>
            <a:r>
              <a:rPr>
                <a:solidFill>
                  <a:srgbClr val="475569"/>
                </a:solidFill>
              </a:rPr>
              <a:t> Allows the employee to navigate only their specific assigned tasks.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Task Card Click:</a:t>
            </a:r>
            <a:r>
              <a:rPr>
                <a:solidFill>
                  <a:srgbClr val="475569"/>
                </a:solidFill>
              </a:rPr>
              <a:t> Opens a high-fidelity details dialog displaying comments, deadlines, and logs.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Priority Indicator Badges:</a:t>
            </a:r>
            <a:r>
              <a:rPr>
                <a:solidFill>
                  <a:srgbClr val="475569"/>
                </a:solidFill>
              </a:rPr>
              <a:t> Displays Low (Green), Medium (Yellow), or High (Red) urgency dots so workers prioritize effectively.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Dynamic Deadlines:</a:t>
            </a:r>
            <a:r>
              <a:rPr>
                <a:solidFill>
                  <a:srgbClr val="475569"/>
                </a:solidFill>
              </a:rPr>
              <a:t> Shows the exact calendar date limit for completion.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Employee Task Board (Worker View)</a:t>
            </a:r>
          </a:p>
        </p:txBody>
      </p:sp>
      <p:pic>
        <p:nvPicPr>
          <p:cNvPr id="4" name="Picture 3" descr="user_dashboard_ui_1779346935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💼 Employee Task Grid: Streamlined, clean White Mode grid displaying only the active items assigned to the worker.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Task Details &amp; Real-Time Discussion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Start Task Button:</a:t>
            </a:r>
            <a:r>
              <a:rPr>
                <a:solidFill>
                  <a:srgbClr val="475569"/>
                </a:solidFill>
              </a:rPr>
              <a:t> Changes status to 'In Progress', turns card boundary to active Indigo, and updates manager.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Submit for Approval Button:</a:t>
            </a:r>
            <a:r>
              <a:rPr>
                <a:solidFill>
                  <a:srgbClr val="475569"/>
                </a:solidFill>
              </a:rPr>
              <a:t> Swaps status to 'Waiting for Approval', highlighting it inside the Admin panel.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Need Clarification Button:</a:t>
            </a:r>
            <a:r>
              <a:rPr>
                <a:solidFill>
                  <a:srgbClr val="475569"/>
                </a:solidFill>
              </a:rPr>
              <a:t> Swaps status to 'Reverted' and redirects the item back to the manager with a alert.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Real-Time Chat Field &amp; Send Icon:</a:t>
            </a:r>
            <a:r>
              <a:rPr>
                <a:solidFill>
                  <a:srgbClr val="475569"/>
                </a:solidFill>
              </a:rPr>
              <a:t> Type text and click send to post persistent discussion messages under the task.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History Log Panel:</a:t>
            </a:r>
            <a:r>
              <a:rPr>
                <a:solidFill>
                  <a:srgbClr val="475569"/>
                </a:solidFill>
              </a:rPr>
              <a:t> Lists full date and action markers tracking every progress edit since creation.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Task Details &amp; Real-Time Discussion Panel</a:t>
            </a:r>
          </a:p>
        </p:txBody>
      </p:sp>
      <p:pic>
        <p:nvPicPr>
          <p:cNvPr id="4" name="Picture 3" descr="task_detail_modal_ui_177934698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💬 Task Detail Dialog: Detailed instructions, comments discussion column, and full progress tracking diary.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Creating and Scheduling a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Task Title &amp; Description Fields:</a:t>
            </a:r>
            <a:r>
              <a:rPr>
                <a:solidFill>
                  <a:srgbClr val="475569"/>
                </a:solidFill>
              </a:rPr>
              <a:t> Set clear instructions and scope notes.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Priority Dropdown (Low / Medium / High):</a:t>
            </a:r>
            <a:r>
              <a:rPr>
                <a:solidFill>
                  <a:srgbClr val="475569"/>
                </a:solidFill>
              </a:rPr>
              <a:t> Configures visual urgency boundaries.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Assign To Employee Dropdown:</a:t>
            </a:r>
            <a:r>
              <a:rPr>
                <a:solidFill>
                  <a:srgbClr val="475569"/>
                </a:solidFill>
              </a:rPr>
              <a:t> Pulls active workers automatically from database registry to assign.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Due Date Picker:</a:t>
            </a:r>
            <a:r>
              <a:rPr>
                <a:solidFill>
                  <a:srgbClr val="475569"/>
                </a:solidFill>
              </a:rPr>
              <a:t> Configures standard deadline limit.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Reminder Date Picker:</a:t>
            </a:r>
            <a:r>
              <a:rPr>
                <a:solidFill>
                  <a:srgbClr val="475569"/>
                </a:solidFill>
              </a:rPr>
              <a:t> Configures an automatic calendar alarm that triggers a notification for the employee.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Schedule Task Button:</a:t>
            </a:r>
            <a:r>
              <a:rPr>
                <a:solidFill>
                  <a:srgbClr val="475569"/>
                </a:solidFill>
              </a:rPr>
              <a:t> Commits task record to MongoDB and updates the worker's board.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Cancel Button:</a:t>
            </a:r>
            <a:r>
              <a:rPr>
                <a:solidFill>
                  <a:srgbClr val="475569"/>
                </a:solidFill>
              </a:rPr>
              <a:t> Discards changes and closes the assignment modal.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Creating and Scheduling a Task</a:t>
            </a:r>
          </a:p>
        </p:txBody>
      </p:sp>
      <p:pic>
        <p:nvPicPr>
          <p:cNvPr id="4" name="Picture 3" descr="task_form_modal_ui_1779346951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➕ Task Delegation Dialog: Interactive assignment form setting titles, priorities, assignees, deadlines, and alerts.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Team Member Registry &amp; Profiles Dialog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Full-Width Medium Modal Frame:</a:t>
            </a:r>
            <a:r>
              <a:rPr>
                <a:solidFill>
                  <a:srgbClr val="475569"/>
                </a:solidFill>
              </a:rPr>
              <a:t> Upgraded width to 'modal-md' to guarantee form buttons fit side-by-side perfectly.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Registry Fields (Username, Email, Role):</a:t>
            </a:r>
            <a:r>
              <a:rPr>
                <a:solidFill>
                  <a:srgbClr val="475569"/>
                </a:solidFill>
              </a:rPr>
              <a:t> Quick forms to input employee profiles and choose role (Admin vs Employee).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Password Input Field:</a:t>
            </a:r>
            <a:r>
              <a:rPr>
                <a:solidFill>
                  <a:srgbClr val="475569"/>
                </a:solidFill>
              </a:rPr>
              <a:t> Enforces secure credentials for the employee.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Save Member Button:</a:t>
            </a:r>
            <a:r>
              <a:rPr>
                <a:solidFill>
                  <a:srgbClr val="475569"/>
                </a:solidFill>
              </a:rPr>
              <a:t> Performs secure validation and creates the database user account.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Cancel/Close Button:</a:t>
            </a:r>
            <a:r>
              <a:rPr>
                <a:solidFill>
                  <a:srgbClr val="475569"/>
                </a:solidFill>
              </a:rPr>
              <a:t> Safely closes the modal without committing edits.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Team Member Registry &amp; Profiles Dialog</a:t>
            </a:r>
          </a:p>
        </p:txBody>
      </p:sp>
      <p:pic>
        <p:nvPicPr>
          <p:cNvPr id="4" name="Picture 3" descr="add_member_modal_ui_1779346997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4F46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👥 Add Member Dialog: Beautiful full-width registry form to onboard team members and assign roles.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Isolated Private Personal To-Do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My Personal To-Do Tab Button:</a:t>
            </a:r>
            <a:r>
              <a:rPr>
                <a:solidFill>
                  <a:srgbClr val="475569"/>
                </a:solidFill>
              </a:rPr>
              <a:t> Activates the private checklist workspace, hiding search and collaborative buttons.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Full-Width Single Row Tabs:</a:t>
            </a:r>
            <a:r>
              <a:rPr>
                <a:solidFill>
                  <a:srgbClr val="475569"/>
                </a:solidFill>
              </a:rPr>
              <a:t> Header layout places search bar on a secondary line so all tabs fit cleanly on a single row.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Add To-Do Item Button:</a:t>
            </a:r>
            <a:r>
              <a:rPr>
                <a:solidFill>
                  <a:srgbClr val="475569"/>
                </a:solidFill>
              </a:rPr>
              <a:t> Instantly saves a low/medium/high priority task to browser cache and updates checklist.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Interactive Checkbox:</a:t>
            </a:r>
            <a:r>
              <a:rPr>
                <a:solidFill>
                  <a:srgbClr val="475569"/>
                </a:solidFill>
              </a:rPr>
              <a:t> Checking items strikes through the text and blends the background to clean, completed gray.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Trash/Delete Button:</a:t>
            </a:r>
            <a:r>
              <a:rPr>
                <a:solidFill>
                  <a:srgbClr val="475569"/>
                </a:solidFill>
              </a:rPr>
              <a:t> Safely wipes the checklist item from browser cache in real-time.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100% Privacy Guarantee:</a:t>
            </a:r>
            <a:r>
              <a:rPr>
                <a:solidFill>
                  <a:srgbClr val="475569"/>
                </a:solidFill>
              </a:rPr>
              <a:t> Items are saved directly in browser's local storage under 'personal_todos_${userId}'. Since they never touch the server database, the Admin has absolutely zero right, access, or visibility!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PART 03: SCREENS &amp; BUTTONS TOUR - LIVE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Isolated Private Personal To-Do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🔒 Private Checklist Tab: Employee private to-do list storing checklists strictly locally for absolute privacy.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6E7CB0-8132-A51B-511A-34631DE3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53" y="1463040"/>
            <a:ext cx="9090734" cy="42179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NEXT STEPS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Try the Redesigned App for 1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rPr dirty="0"/>
              <a:t>How the 1-Week Trial Works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Upload Beta App:</a:t>
            </a:r>
            <a:r>
              <a:rPr dirty="0">
                <a:solidFill>
                  <a:srgbClr val="475569"/>
                </a:solidFill>
              </a:rPr>
              <a:t> The Light Theme production app is deployed online on a secure testing URL.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Get Team Accounts:</a:t>
            </a:r>
            <a:r>
              <a:rPr dirty="0">
                <a:solidFill>
                  <a:srgbClr val="475569"/>
                </a:solidFill>
              </a:rPr>
              <a:t> Managers receive administrator keys, and workers get standard employee accounts.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7-Day Active Trial:</a:t>
            </a:r>
            <a:r>
              <a:rPr dirty="0">
                <a:solidFill>
                  <a:srgbClr val="475569"/>
                </a:solidFill>
              </a:rPr>
              <a:t> Assign actual daily office tasks, write reviews, and run private checklists.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Collect Feedback:</a:t>
            </a:r>
            <a:r>
              <a:rPr dirty="0">
                <a:solidFill>
                  <a:srgbClr val="475569"/>
                </a:solidFill>
              </a:rPr>
              <a:t> We compile notes on feature performance, speed, and any adjustments you request.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78907" y="2619309"/>
            <a:ext cx="536448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54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THANK YOU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D15A72-7BE6-2625-0E70-702FDC0E1674}"/>
              </a:ext>
            </a:extLst>
          </p:cNvPr>
          <p:cNvGrpSpPr/>
          <p:nvPr/>
        </p:nvGrpSpPr>
        <p:grpSpPr>
          <a:xfrm>
            <a:off x="2758993" y="1661682"/>
            <a:ext cx="1018080" cy="2774880"/>
            <a:chOff x="2758993" y="1661682"/>
            <a:chExt cx="1018080" cy="2774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1BCF7F-A774-3A10-2A15-CF258DAE3513}"/>
                    </a:ext>
                  </a:extLst>
                </p14:cNvPr>
                <p14:cNvContentPartPr/>
                <p14:nvPr/>
              </p14:nvContentPartPr>
              <p14:xfrm>
                <a:off x="3776713" y="4436202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1BCF7F-A774-3A10-2A15-CF258DAE35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67713" y="44275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944AB6-EE1D-53D0-557A-C47064EA9458}"/>
                    </a:ext>
                  </a:extLst>
                </p14:cNvPr>
                <p14:cNvContentPartPr/>
                <p14:nvPr/>
              </p14:nvContentPartPr>
              <p14:xfrm>
                <a:off x="2758993" y="1661682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944AB6-EE1D-53D0-557A-C47064EA94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9993" y="165268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2AF2C43-E365-2F71-A4AF-C7CB8384989B}"/>
                  </a:ext>
                </a:extLst>
              </p14:cNvPr>
              <p14:cNvContentPartPr/>
              <p14:nvPr/>
            </p14:nvContentPartPr>
            <p14:xfrm>
              <a:off x="5478073" y="3124362"/>
              <a:ext cx="2696040" cy="581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2AF2C43-E365-2F71-A4AF-C7CB838498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69433" y="3115362"/>
                <a:ext cx="2713680" cy="59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AA75E5D-9B8C-6A1C-0E1D-027FAF0F6DAB}"/>
                  </a:ext>
                </a:extLst>
              </p14:cNvPr>
              <p14:cNvContentPartPr/>
              <p14:nvPr/>
            </p14:nvContentPartPr>
            <p14:xfrm>
              <a:off x="3203233" y="3123642"/>
              <a:ext cx="2267280" cy="486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AA75E5D-9B8C-6A1C-0E1D-027FAF0F6D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94593" y="3115002"/>
                <a:ext cx="2284920" cy="50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697027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3ACF124-275F-44F2-8DE0-0A75506982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18</TotalTime>
  <Words>1433</Words>
  <Application>Microsoft Office PowerPoint</Application>
  <PresentationFormat>Widescreen</PresentationFormat>
  <Paragraphs>104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 Light</vt:lpstr>
      <vt:lpstr>Mongolian Baiti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Dscale-2</cp:lastModifiedBy>
  <cp:revision>4</cp:revision>
  <dcterms:created xsi:type="dcterms:W3CDTF">2013-01-27T09:14:16Z</dcterms:created>
  <dcterms:modified xsi:type="dcterms:W3CDTF">2026-05-21T10:42:10Z</dcterms:modified>
  <cp:category/>
</cp:coreProperties>
</file>