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62895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6366F1"/>
                </a:solidFill>
                <a:latin typeface="Arial"/>
              </a:defRPr>
            </a:pPr>
            <a:r>
              <a:t>EASY WORKFLOWS &amp; WORK TRACKING PLATFORM</a:t>
            </a:r>
          </a:p>
          <a:p>
            <a:pPr>
              <a:spcAft>
                <a:spcPts val="1000"/>
              </a:spcAft>
              <a:defRPr sz="4600" b="1">
                <a:solidFill>
                  <a:srgbClr val="FFFFFF"/>
                </a:solidFill>
                <a:latin typeface="Arial"/>
              </a:defRPr>
            </a:pPr>
            <a:r>
              <a:t>Office Workflow Tracking App</a:t>
            </a:r>
          </a:p>
          <a:p>
            <a:pPr>
              <a:spcAft>
                <a:spcPts val="3600"/>
              </a:spcAft>
              <a:defRPr sz="1600">
                <a:solidFill>
                  <a:srgbClr val="94A3B8"/>
                </a:solidFill>
                <a:latin typeface="Arial"/>
              </a:defRPr>
            </a:pPr>
            <a:r>
              <a:t>A simple, friendly way to organize office tasks, assign work, and get instant updates.</a:t>
            </a:r>
          </a:p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🎁 Try the Beta Version: Test with Your Team for 1 Week Free!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Arial"/>
              </a:defRPr>
            </a:pPr>
            <a:r>
              <a:t>PART 01: THE BIG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53035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How the App Works (Simply Explained)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400">
                <a:latin typeface="Arial"/>
              </a:defRPr>
            </a:pPr>
            <a:r>
              <a:rPr b="1">
                <a:solidFill>
                  <a:srgbClr val="FFFFFF"/>
                </a:solidFill>
              </a:rPr>
              <a:t>No More Messy Emails:</a:t>
            </a:r>
            <a:r>
              <a:rPr>
                <a:solidFill>
                  <a:srgbClr val="94A3B8"/>
                </a:solidFill>
              </a:rPr>
              <a:t> Keep all tasks, details, and schedules inside a single, clean workspace.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400">
                <a:latin typeface="Arial"/>
              </a:defRPr>
            </a:pPr>
            <a:r>
              <a:rPr b="1">
                <a:solidFill>
                  <a:srgbClr val="FFFFFF"/>
                </a:solidFill>
              </a:rPr>
              <a:t>Two Separate Panels:</a:t>
            </a:r>
            <a:r>
              <a:rPr>
                <a:solidFill>
                  <a:srgbClr val="94A3B8"/>
                </a:solidFill>
              </a:rPr>
              <a:t> A Manager dashboard to oversee everything, and an Employee dashboard to view assigned tasks.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400">
                <a:latin typeface="Arial"/>
              </a:defRPr>
            </a:pPr>
            <a:r>
              <a:rPr b="1">
                <a:solidFill>
                  <a:srgbClr val="FFFFFF"/>
                </a:solidFill>
              </a:rPr>
              <a:t>Fast &amp; Modern Page:</a:t>
            </a:r>
            <a:r>
              <a:rPr>
                <a:solidFill>
                  <a:srgbClr val="94A3B8"/>
                </a:solidFill>
              </a:rPr>
              <a:t> The app responds instantly on both mobiles and computers with no slow loading times.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400">
                <a:latin typeface="Arial"/>
              </a:defRPr>
            </a:pPr>
            <a:r>
              <a:rPr b="1">
                <a:solidFill>
                  <a:srgbClr val="FFFFFF"/>
                </a:solidFill>
              </a:rPr>
              <a:t>Safe and Secure:</a:t>
            </a:r>
            <a:r>
              <a:rPr>
                <a:solidFill>
                  <a:srgbClr val="94A3B8"/>
                </a:solidFill>
              </a:rPr>
              <a:t> Encrypted database ensures only your registered team members can see your company files.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Arial"/>
              </a:defRPr>
            </a:pPr>
            <a:r>
              <a:t>PART 01: THE BIG PICTURE - LIVE PREVIEW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53035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How the App Works (Simply Explained)</a:t>
            </a:r>
          </a:p>
        </p:txBody>
      </p:sp>
      <p:pic>
        <p:nvPicPr>
          <p:cNvPr id="4" name="Picture 3" descr="system_architecture_diagram_17793470437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390" y="1280160"/>
            <a:ext cx="9144000" cy="5143500"/>
          </a:xfrm>
          <a:prstGeom prst="rect">
            <a:avLst/>
          </a:prstGeom>
          <a:ln w="25400">
            <a:solidFill>
              <a:srgbClr val="6366F1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914400" y="6446520"/>
            <a:ext cx="103628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  <a:latin typeface="Arial"/>
              </a:defRPr>
            </a:pPr>
            <a:r>
              <a:t>🔍 System Architecture: Visualizing the secure, modular design connecting managers, employees, and the secure cloud database.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Arial"/>
              </a:defRPr>
            </a:pPr>
            <a:r>
              <a:t>PART 02: SIMPLE WORKFLOWS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53035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Easy Step-by-Step Task States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400">
                <a:latin typeface="Arial"/>
              </a:defRPr>
            </a:pPr>
            <a:r>
              <a:rPr b="1">
                <a:solidFill>
                  <a:srgbClr val="FFFFFF"/>
                </a:solidFill>
              </a:rPr>
              <a:t>Pending (To-Do):</a:t>
            </a:r>
            <a:r>
              <a:rPr>
                <a:solidFill>
                  <a:srgbClr val="94A3B8"/>
                </a:solidFill>
              </a:rPr>
              <a:t> The manager assigns a task. It appears in the worker's checklist.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400">
                <a:latin typeface="Arial"/>
              </a:defRPr>
            </a:pPr>
            <a:r>
              <a:rPr b="1">
                <a:solidFill>
                  <a:srgbClr val="FFFFFF"/>
                </a:solidFill>
              </a:rPr>
              <a:t>In Progress:</a:t>
            </a:r>
            <a:r>
              <a:rPr>
                <a:solidFill>
                  <a:srgbClr val="94A3B8"/>
                </a:solidFill>
              </a:rPr>
              <a:t> The employee starts working and marks the task as active.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400">
                <a:latin typeface="Arial"/>
              </a:defRPr>
            </a:pPr>
            <a:r>
              <a:rPr b="1">
                <a:solidFill>
                  <a:srgbClr val="FFFFFF"/>
                </a:solidFill>
              </a:rPr>
              <a:t>Waiting for Approval:</a:t>
            </a:r>
            <a:r>
              <a:rPr>
                <a:solidFill>
                  <a:srgbClr val="94A3B8"/>
                </a:solidFill>
              </a:rPr>
              <a:t> The worker finishes the task and sends it to the manager to check.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400">
                <a:latin typeface="Arial"/>
              </a:defRPr>
            </a:pPr>
            <a:r>
              <a:rPr b="1">
                <a:solidFill>
                  <a:srgbClr val="FFFFFF"/>
                </a:solidFill>
              </a:rPr>
              <a:t>Done (Approved):</a:t>
            </a:r>
            <a:r>
              <a:rPr>
                <a:solidFill>
                  <a:srgbClr val="94A3B8"/>
                </a:solidFill>
              </a:rPr>
              <a:t> The manager checks the work, clicks approve, and closes the task.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400">
                <a:latin typeface="Arial"/>
              </a:defRPr>
            </a:pPr>
            <a:r>
              <a:rPr b="1">
                <a:solidFill>
                  <a:srgbClr val="FFFFFF"/>
                </a:solidFill>
              </a:rPr>
              <a:t>Reverted (Need Info):</a:t>
            </a:r>
            <a:r>
              <a:rPr>
                <a:solidFill>
                  <a:srgbClr val="94A3B8"/>
                </a:solidFill>
              </a:rPr>
              <a:t> If details are missing, the worker sends it back to the manager to clarify.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Arial"/>
              </a:defRPr>
            </a:pPr>
            <a:r>
              <a:t>PART 02: SIMPLE WORKFLOWS - LIVE PREVIEW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53035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Easy Step-by-Step Task States</a:t>
            </a:r>
          </a:p>
        </p:txBody>
      </p:sp>
      <p:pic>
        <p:nvPicPr>
          <p:cNvPr id="4" name="Picture 3" descr="task_workflow_diagram_17793470229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390" y="1280160"/>
            <a:ext cx="9144000" cy="5143500"/>
          </a:xfrm>
          <a:prstGeom prst="rect">
            <a:avLst/>
          </a:prstGeom>
          <a:ln w="25400">
            <a:solidFill>
              <a:srgbClr val="6366F1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914400" y="6446520"/>
            <a:ext cx="103628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  <a:latin typeface="Arial"/>
              </a:defRPr>
            </a:pPr>
            <a:r>
              <a:t>🔄 Workflow Tracker: Seamless progression states from initial setup to employee start, manager review, and final approval.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Arial"/>
              </a:defRPr>
            </a:pPr>
            <a:r>
              <a:t>PART 03: SCREENS TOUR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53035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Welcome &amp; Secure Login Screen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400">
                <a:latin typeface="Arial"/>
              </a:defRPr>
            </a:pPr>
            <a:r>
              <a:rPr b="1">
                <a:solidFill>
                  <a:srgbClr val="FFFFFF"/>
                </a:solidFill>
              </a:rPr>
              <a:t>Private Entrance:</a:t>
            </a:r>
            <a:r>
              <a:rPr>
                <a:solidFill>
                  <a:srgbClr val="94A3B8"/>
                </a:solidFill>
              </a:rPr>
              <a:t> Restricts entry so only your authorized employees can access the task list.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400">
                <a:latin typeface="Arial"/>
              </a:defRPr>
            </a:pPr>
            <a:r>
              <a:rPr b="1">
                <a:solidFill>
                  <a:srgbClr val="FFFFFF"/>
                </a:solidFill>
              </a:rPr>
              <a:t>Modern Visuals:</a:t>
            </a:r>
            <a:r>
              <a:rPr>
                <a:solidFill>
                  <a:srgbClr val="94A3B8"/>
                </a:solidFill>
              </a:rPr>
              <a:t> Elegant, dark blue background with clear input fields that look very professional.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400">
                <a:latin typeface="Arial"/>
              </a:defRPr>
            </a:pPr>
            <a:r>
              <a:rPr b="1">
                <a:solidFill>
                  <a:srgbClr val="FFFFFF"/>
                </a:solidFill>
              </a:rPr>
              <a:t>Immediate Signup:</a:t>
            </a:r>
            <a:r>
              <a:rPr>
                <a:solidFill>
                  <a:srgbClr val="94A3B8"/>
                </a:solidFill>
              </a:rPr>
              <a:t> New team members can easily request an account directly from the main page.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Arial"/>
              </a:defRPr>
            </a:pPr>
            <a:r>
              <a:t>PART 03: SCREENS TOUR - LIVE PREVIEW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53035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Welcome &amp; Secure Login Screen</a:t>
            </a:r>
          </a:p>
        </p:txBody>
      </p:sp>
      <p:pic>
        <p:nvPicPr>
          <p:cNvPr id="4" name="Picture 3" descr="login_page_ui_177934689177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390" y="1280160"/>
            <a:ext cx="9144000" cy="5143500"/>
          </a:xfrm>
          <a:prstGeom prst="rect">
            <a:avLst/>
          </a:prstGeom>
          <a:ln w="25400">
            <a:solidFill>
              <a:srgbClr val="6366F1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914400" y="6446520"/>
            <a:ext cx="103628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  <a:latin typeface="Arial"/>
              </a:defRPr>
            </a:pPr>
            <a:r>
              <a:t>🔒 Security Gate: Elegant dark-mode portal validating employee and admin login requests instantly.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Arial"/>
              </a:defRPr>
            </a:pPr>
            <a:r>
              <a:t>PART 03: SCREENS TOUR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53035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Manager's Control Panel (Admin View)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400">
                <a:latin typeface="Arial"/>
              </a:defRPr>
            </a:pPr>
            <a:r>
              <a:rPr b="1">
                <a:solidFill>
                  <a:srgbClr val="FFFFFF"/>
                </a:solidFill>
              </a:rPr>
              <a:t>Quick Stats Block:</a:t>
            </a:r>
            <a:r>
              <a:rPr>
                <a:solidFill>
                  <a:srgbClr val="94A3B8"/>
                </a:solidFill>
              </a:rPr>
              <a:t> Instantly see total tasks, pending approvals, completed tasks, and overdue items at a glance.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400">
                <a:latin typeface="Arial"/>
              </a:defRPr>
            </a:pPr>
            <a:r>
              <a:rPr b="1">
                <a:solidFill>
                  <a:srgbClr val="FFFFFF"/>
                </a:solidFill>
              </a:rPr>
              <a:t>Team Registry List:</a:t>
            </a:r>
            <a:r>
              <a:rPr>
                <a:solidFill>
                  <a:srgbClr val="94A3B8"/>
                </a:solidFill>
              </a:rPr>
              <a:t> Easily register new team members, edit profiles, or clear out old accounts in seconds.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400">
                <a:latin typeface="Arial"/>
              </a:defRPr>
            </a:pPr>
            <a:r>
              <a:rPr b="1">
                <a:solidFill>
                  <a:srgbClr val="FFFFFF"/>
                </a:solidFill>
              </a:rPr>
              <a:t>Instant Filtering:</a:t>
            </a:r>
            <a:r>
              <a:rPr>
                <a:solidFill>
                  <a:srgbClr val="94A3B8"/>
                </a:solidFill>
              </a:rPr>
              <a:t> Search the entire list by writing a word, or clicking easy tabs (Pending, Completed, Reverted).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Arial"/>
              </a:defRPr>
            </a:pPr>
            <a:r>
              <a:t>PART 03: SCREENS TOUR - LIVE PREVIEW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53035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Manager's Control Panel (Admin View)</a:t>
            </a:r>
          </a:p>
        </p:txBody>
      </p:sp>
      <p:pic>
        <p:nvPicPr>
          <p:cNvPr id="4" name="Picture 3" descr="admin_dashboard_ui_17793469094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390" y="1280160"/>
            <a:ext cx="9144000" cy="5143500"/>
          </a:xfrm>
          <a:prstGeom prst="rect">
            <a:avLst/>
          </a:prstGeom>
          <a:ln w="25400">
            <a:solidFill>
              <a:srgbClr val="6366F1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914400" y="6446520"/>
            <a:ext cx="103628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  <a:latin typeface="Arial"/>
              </a:defRPr>
            </a:pPr>
            <a:r>
              <a:t>📊 Manager Command Center: Real-time high-level statistics, comprehensive team lists, and active task overview panel.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Arial"/>
              </a:defRPr>
            </a:pPr>
            <a:r>
              <a:t>PART 03: SCREENS TOUR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53035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Employee Task Board (Worker View)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400">
                <a:latin typeface="Arial"/>
              </a:defRPr>
            </a:pPr>
            <a:r>
              <a:rPr b="1">
                <a:solidFill>
                  <a:srgbClr val="FFFFFF"/>
                </a:solidFill>
              </a:rPr>
              <a:t>No Distractions:</a:t>
            </a:r>
            <a:r>
              <a:rPr>
                <a:solidFill>
                  <a:srgbClr val="94A3B8"/>
                </a:solidFill>
              </a:rPr>
              <a:t> Workers see only the active tasks assigned specifically to them, keeping them highly focused.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400">
                <a:latin typeface="Arial"/>
              </a:defRPr>
            </a:pPr>
            <a:r>
              <a:rPr b="1">
                <a:solidFill>
                  <a:srgbClr val="FFFFFF"/>
                </a:solidFill>
              </a:rPr>
              <a:t>Visual Priorities:</a:t>
            </a:r>
            <a:r>
              <a:rPr>
                <a:solidFill>
                  <a:srgbClr val="94A3B8"/>
                </a:solidFill>
              </a:rPr>
              <a:t> Clear color dots show what is High Priority (Red) so they know what to do first.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400">
                <a:latin typeface="Arial"/>
              </a:defRPr>
            </a:pPr>
            <a:r>
              <a:rPr b="1">
                <a:solidFill>
                  <a:srgbClr val="FFFFFF"/>
                </a:solidFill>
              </a:rPr>
              <a:t>Deadline Alerts:</a:t>
            </a:r>
            <a:r>
              <a:rPr>
                <a:solidFill>
                  <a:srgbClr val="94A3B8"/>
                </a:solidFill>
              </a:rPr>
              <a:t> Built-in calendar alarms show warning pop-ups so nobody forgets approaching target times.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Arial"/>
              </a:defRPr>
            </a:pPr>
            <a:r>
              <a:t>PART 03: SCREENS TOUR - LIVE PREVIEW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53035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Employee Task Board (Worker View)</a:t>
            </a:r>
          </a:p>
        </p:txBody>
      </p:sp>
      <p:pic>
        <p:nvPicPr>
          <p:cNvPr id="4" name="Picture 3" descr="user_dashboard_ui_177934693538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390" y="1280160"/>
            <a:ext cx="9144000" cy="5143500"/>
          </a:xfrm>
          <a:prstGeom prst="rect">
            <a:avLst/>
          </a:prstGeom>
          <a:ln w="25400">
            <a:solidFill>
              <a:srgbClr val="6366F1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914400" y="6446520"/>
            <a:ext cx="103628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  <a:latin typeface="Arial"/>
              </a:defRPr>
            </a:pPr>
            <a:r>
              <a:t>💼 Employee Dashboard: Highly structured list focusing purely on tasks assigned to the logged-in team member.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Arial"/>
              </a:defRPr>
            </a:pPr>
            <a:r>
              <a:t>PART 03: SCREENS TOUR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53035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Creating and Assigning a Task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400">
                <a:latin typeface="Arial"/>
              </a:defRPr>
            </a:pPr>
            <a:r>
              <a:rPr b="1">
                <a:solidFill>
                  <a:srgbClr val="FFFFFF"/>
                </a:solidFill>
              </a:rPr>
              <a:t>Simple Dropdowns:</a:t>
            </a:r>
            <a:r>
              <a:rPr>
                <a:solidFill>
                  <a:srgbClr val="94A3B8"/>
                </a:solidFill>
              </a:rPr>
              <a:t> Choose which employee to assign from a friendly, dropdown list of active team members.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400">
                <a:latin typeface="Arial"/>
              </a:defRPr>
            </a:pPr>
            <a:r>
              <a:rPr b="1">
                <a:solidFill>
                  <a:srgbClr val="FFFFFF"/>
                </a:solidFill>
              </a:rPr>
              <a:t>Detailed Scopes:</a:t>
            </a:r>
            <a:r>
              <a:rPr>
                <a:solidFill>
                  <a:srgbClr val="94A3B8"/>
                </a:solidFill>
              </a:rPr>
              <a:t> Write descriptive notes, set priority dots (Low, Medium, High), and schedule targets.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400">
                <a:latin typeface="Arial"/>
              </a:defRPr>
            </a:pPr>
            <a:r>
              <a:rPr b="1">
                <a:solidFill>
                  <a:srgbClr val="FFFFFF"/>
                </a:solidFill>
              </a:rPr>
              <a:t>Alarms Setup:</a:t>
            </a:r>
            <a:r>
              <a:rPr>
                <a:solidFill>
                  <a:srgbClr val="94A3B8"/>
                </a:solidFill>
              </a:rPr>
              <a:t> Pick a final Due Date and set a separate Reminder Alarm to notify the worker automatically.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Arial"/>
              </a:defRPr>
            </a:pPr>
            <a:r>
              <a:t>PART 03: SCREENS TOUR - LIVE PREVIEW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53035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Creating and Assigning a Task</a:t>
            </a:r>
          </a:p>
        </p:txBody>
      </p:sp>
      <p:pic>
        <p:nvPicPr>
          <p:cNvPr id="4" name="Picture 3" descr="task_form_modal_ui_177934695159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390" y="1280160"/>
            <a:ext cx="9144000" cy="5143500"/>
          </a:xfrm>
          <a:prstGeom prst="rect">
            <a:avLst/>
          </a:prstGeom>
          <a:ln w="25400">
            <a:solidFill>
              <a:srgbClr val="6366F1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914400" y="6446520"/>
            <a:ext cx="103628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  <a:latin typeface="Arial"/>
              </a:defRPr>
            </a:pPr>
            <a:r>
              <a:t>➕ Task Creation Form: Interactive dialog setting names, priority scales, target dates, and explicit team assignment.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Arial"/>
              </a:defRPr>
            </a:pPr>
            <a:r>
              <a:t>PART 03: SCREENS TOUR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53035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Direct Chat &amp; Task History 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400">
                <a:latin typeface="Arial"/>
              </a:defRPr>
            </a:pPr>
            <a:r>
              <a:rPr b="1">
                <a:solidFill>
                  <a:srgbClr val="FFFFFF"/>
                </a:solidFill>
              </a:rPr>
              <a:t>Chat Under the Task:</a:t>
            </a:r>
            <a:r>
              <a:rPr>
                <a:solidFill>
                  <a:srgbClr val="94A3B8"/>
                </a:solidFill>
              </a:rPr>
              <a:t> Employees and managers can write messages and ask questions right inside the task page.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400">
                <a:latin typeface="Arial"/>
              </a:defRPr>
            </a:pPr>
            <a:r>
              <a:rPr b="1">
                <a:solidFill>
                  <a:srgbClr val="FFFFFF"/>
                </a:solidFill>
              </a:rPr>
              <a:t>Full Timeline Log:</a:t>
            </a:r>
            <a:r>
              <a:rPr>
                <a:solidFill>
                  <a:srgbClr val="94A3B8"/>
                </a:solidFill>
              </a:rPr>
              <a:t> The system automatically records a diary of when the task was started, submitted, or edited.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400">
                <a:latin typeface="Arial"/>
              </a:defRPr>
            </a:pPr>
            <a:r>
              <a:rPr b="1">
                <a:solidFill>
                  <a:srgbClr val="FFFFFF"/>
                </a:solidFill>
              </a:rPr>
              <a:t>Clear Communication:</a:t>
            </a:r>
            <a:r>
              <a:rPr>
                <a:solidFill>
                  <a:srgbClr val="94A3B8"/>
                </a:solidFill>
              </a:rPr>
              <a:t> Ensures everybody is on the same page and avoids confusing back-and-forth emails.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Arial"/>
              </a:defRPr>
            </a:pPr>
            <a:r>
              <a:t>PART 03: SCREENS TOUR - LIVE PREVIEW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53035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Direct Chat &amp; Task History Log</a:t>
            </a:r>
          </a:p>
        </p:txBody>
      </p:sp>
      <p:pic>
        <p:nvPicPr>
          <p:cNvPr id="4" name="Picture 3" descr="task_detail_modal_ui_17793469812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390" y="1280160"/>
            <a:ext cx="9144000" cy="5143500"/>
          </a:xfrm>
          <a:prstGeom prst="rect">
            <a:avLst/>
          </a:prstGeom>
          <a:ln w="25400">
            <a:solidFill>
              <a:srgbClr val="6366F1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914400" y="6446520"/>
            <a:ext cx="103628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  <a:latin typeface="Arial"/>
              </a:defRPr>
            </a:pPr>
            <a:r>
              <a:t>💬 Collaboration Panel: Full history of task changes along with a real-time messaging thread to discuss work items.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Arial"/>
              </a:defRPr>
            </a:pPr>
            <a:r>
              <a:t>NEXT STEPS &amp;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53035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Try the Beta Version for 1 Week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600"/>
              </a:spcAft>
              <a:defRPr sz="1800" b="1">
                <a:solidFill>
                  <a:srgbClr val="6366F1"/>
                </a:solidFill>
                <a:latin typeface="Arial"/>
              </a:defRPr>
            </a:pPr>
            <a:r>
              <a:t>How the 1-Week Trial Works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300">
                <a:latin typeface="Arial"/>
              </a:defRPr>
            </a:pPr>
            <a:r>
              <a:rPr b="1">
                <a:solidFill>
                  <a:srgbClr val="FFFFFF"/>
                </a:solidFill>
              </a:rPr>
              <a:t>Upload Beta App:</a:t>
            </a:r>
            <a:r>
              <a:rPr>
                <a:solidFill>
                  <a:srgbClr val="94A3B8"/>
                </a:solidFill>
              </a:rPr>
              <a:t> We will put the app online on a private testing website.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300">
                <a:latin typeface="Arial"/>
              </a:defRPr>
            </a:pPr>
            <a:r>
              <a:rPr b="1">
                <a:solidFill>
                  <a:srgbClr val="FFFFFF"/>
                </a:solidFill>
              </a:rPr>
              <a:t>Get Free Accounts:</a:t>
            </a:r>
            <a:r>
              <a:rPr>
                <a:solidFill>
                  <a:srgbClr val="94A3B8"/>
                </a:solidFill>
              </a:rPr>
              <a:t> We will give your managers and employees custom usernames and passwords.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300">
                <a:latin typeface="Arial"/>
              </a:defRPr>
            </a:pPr>
            <a:r>
              <a:rPr b="1">
                <a:solidFill>
                  <a:srgbClr val="FFFFFF"/>
                </a:solidFill>
              </a:rPr>
              <a:t>Real-World Test:</a:t>
            </a:r>
            <a:r>
              <a:rPr>
                <a:solidFill>
                  <a:srgbClr val="94A3B8"/>
                </a:solidFill>
              </a:rPr>
              <a:t> Your team uses it for 7 days to assign work, write comments, and track progress.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300">
                <a:latin typeface="Arial"/>
              </a:defRPr>
            </a:pPr>
            <a:r>
              <a:rPr b="1">
                <a:solidFill>
                  <a:srgbClr val="FFFFFF"/>
                </a:solidFill>
              </a:rPr>
              <a:t>Collect Your Feedback:</a:t>
            </a:r>
            <a:r>
              <a:rPr>
                <a:solidFill>
                  <a:srgbClr val="94A3B8"/>
                </a:solidFill>
              </a:rPr>
              <a:t> We note down what you liked and what you want changed or improved.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645920"/>
            <a:ext cx="50292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600"/>
              </a:spcAft>
              <a:defRPr sz="1800" b="1">
                <a:solidFill>
                  <a:srgbClr val="10B981"/>
                </a:solidFill>
                <a:latin typeface="Arial"/>
              </a:defRPr>
            </a:pPr>
            <a:r>
              <a:t>Easy Timeline of Launch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300">
                <a:latin typeface="Arial"/>
              </a:defRPr>
            </a:pPr>
            <a:r>
              <a:rPr b="1">
                <a:solidFill>
                  <a:srgbClr val="FFFFFF"/>
                </a:solidFill>
              </a:rPr>
              <a:t>Day 1:</a:t>
            </a:r>
            <a:r>
              <a:rPr>
                <a:solidFill>
                  <a:srgbClr val="94A3B8"/>
                </a:solidFill>
              </a:rPr>
              <a:t> We send your team the testing website link and login details.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300">
                <a:latin typeface="Arial"/>
              </a:defRPr>
            </a:pPr>
            <a:r>
              <a:rPr b="1">
                <a:solidFill>
                  <a:srgbClr val="FFFFFF"/>
                </a:solidFill>
              </a:rPr>
              <a:t>Day 1 to 5:</a:t>
            </a:r>
            <a:r>
              <a:rPr>
                <a:solidFill>
                  <a:srgbClr val="94A3B8"/>
                </a:solidFill>
              </a:rPr>
              <a:t> Your team uses the system for everyday task management.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300">
                <a:latin typeface="Arial"/>
              </a:defRPr>
            </a:pPr>
            <a:r>
              <a:rPr b="1">
                <a:solidFill>
                  <a:srgbClr val="FFFFFF"/>
                </a:solidFill>
              </a:rPr>
              <a:t>Day 6:</a:t>
            </a:r>
            <a:r>
              <a:rPr>
                <a:solidFill>
                  <a:srgbClr val="94A3B8"/>
                </a:solidFill>
              </a:rPr>
              <a:t> We call you to collect suggestions and desired updates.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300">
                <a:latin typeface="Arial"/>
              </a:defRPr>
            </a:pPr>
            <a:r>
              <a:rPr b="1">
                <a:solidFill>
                  <a:srgbClr val="FFFFFF"/>
                </a:solidFill>
              </a:rPr>
              <a:t>Day 7 to 8:</a:t>
            </a:r>
            <a:r>
              <a:rPr>
                <a:solidFill>
                  <a:srgbClr val="94A3B8"/>
                </a:solidFill>
              </a:rPr>
              <a:t> We make the quick revisions to perfect the app for you.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300">
                <a:latin typeface="Arial"/>
              </a:defRPr>
            </a:pPr>
            <a:r>
              <a:rPr b="1">
                <a:solidFill>
                  <a:srgbClr val="FFFFFF"/>
                </a:solidFill>
              </a:rPr>
              <a:t>Day 9:</a:t>
            </a:r>
            <a:r>
              <a:rPr>
                <a:solidFill>
                  <a:srgbClr val="94A3B8"/>
                </a:solidFill>
              </a:rPr>
              <a:t> The final official version is launched for your permanent use!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